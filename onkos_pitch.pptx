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400">
                <a:solidFill>
                  <a:srgbClr val="0B2545"/>
                </a:solidFill>
                <a:latin typeface="Calibri"/>
              </a:rPr>
              <a:t>ONKOS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0" i="0">
                <a:solidFill>
                  <a:srgbClr val="0A0A0A"/>
                </a:solidFill>
                <a:latin typeface="Calibri Light"/>
              </a:rPr>
              <a:t>Cursor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0" i="0">
                <a:solidFill>
                  <a:srgbClr val="0B2545"/>
                </a:solidFill>
                <a:latin typeface="Calibri Light"/>
              </a:rPr>
              <a:t>for Oncologists.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6B6B6B"/>
                </a:solidFill>
                <a:latin typeface="Calibri Light"/>
              </a:rPr>
              <a:t>Upload a patient's records. Get back a cited treatment plan, matching trials, and a clinician report in minutes.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" y="5989320"/>
            <a:ext cx="105156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60" y="6080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50">
                <a:solidFill>
                  <a:srgbClr val="0B2545"/>
                </a:solidFill>
                <a:latin typeface="Calibri"/>
              </a:rPr>
              <a:t>HACKPRINCETON 2026  ·  REGENERON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0807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250">
                <a:solidFill>
                  <a:srgbClr val="6B6B6B"/>
                </a:solidFill>
                <a:latin typeface="Calibri"/>
              </a:rPr>
              <a:t>TEAM ONKOS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12064"/>
            <a:ext cx="82296" cy="82296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4572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0B2545"/>
                </a:solidFill>
                <a:latin typeface="Calibri"/>
              </a:rPr>
              <a:t>01  ·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57200"/>
            <a:ext cx="3870655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300">
                <a:solidFill>
                  <a:srgbClr val="6B6B6B"/>
                </a:solidFill>
                <a:latin typeface="Calibri"/>
              </a:rPr>
              <a:t>ONKOS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6539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 spc="150">
                <a:solidFill>
                  <a:srgbClr val="6B6B6B"/>
                </a:solidFill>
                <a:latin typeface="Calibri"/>
              </a:rPr>
              <a:t>01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6565392"/>
            <a:ext cx="551657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 spc="150">
                <a:solidFill>
                  <a:srgbClr val="6B6B6B"/>
                </a:solidFill>
                <a:latin typeface="Calibri"/>
              </a:rPr>
              <a:t>HackPrinceton 2026  ·  Regeneron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 i="0">
                <a:solidFill>
                  <a:srgbClr val="0A0A0A"/>
                </a:solidFill>
                <a:latin typeface="Calibri Light"/>
              </a:rPr>
              <a:t>Matching a patient to the right trial
still takes days, not minutes.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B6B6B"/>
                </a:solidFill>
                <a:latin typeface="Calibri"/>
              </a:rPr>
              <a:t>Oncologists piece together PDFs, scans, and handwritten notes by hand. The matching criteria sit buried inside hundreds of trial protocols.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8007" y="3977639"/>
            <a:ext cx="3566160" cy="19202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8007" y="3977639"/>
            <a:ext cx="54864" cy="19202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047" y="4251959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0B2545"/>
                </a:solidFill>
                <a:latin typeface="Calibri Light"/>
              </a:rPr>
              <a:t>86%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047" y="5074919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of clinical trials miss their original enrollment timelines.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2767" y="3977639"/>
            <a:ext cx="3566160" cy="19202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767" y="3977639"/>
            <a:ext cx="54864" cy="19202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2807" y="4251959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0B2545"/>
                </a:solidFill>
                <a:latin typeface="Calibri Light"/>
              </a:rPr>
              <a:t>200+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2807" y="5074919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pages of records behind a single new patient's chart.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7527" y="3977639"/>
            <a:ext cx="3566160" cy="19202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7527" y="3977639"/>
            <a:ext cx="54864" cy="19202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7567" y="4251959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0B2545"/>
                </a:solidFill>
                <a:latin typeface="Calibri Light"/>
              </a:rPr>
              <a:t>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7567" y="5074919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to hand-screen one patient against a trial shortlist.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12064"/>
            <a:ext cx="82296" cy="82296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4572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0B2545"/>
                </a:solidFill>
                <a:latin typeface="Calibri"/>
              </a:rPr>
              <a:t>02  ·  SECURITY &amp;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57200"/>
            <a:ext cx="3870655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300">
                <a:solidFill>
                  <a:srgbClr val="6B6B6B"/>
                </a:solidFill>
                <a:latin typeface="Calibri"/>
              </a:rPr>
              <a:t>ONKOS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6539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 spc="150">
                <a:solidFill>
                  <a:srgbClr val="6B6B6B"/>
                </a:solidFill>
                <a:latin typeface="Calibri"/>
              </a:rPr>
              <a:t>02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6565392"/>
            <a:ext cx="551657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 spc="150">
                <a:solidFill>
                  <a:srgbClr val="6B6B6B"/>
                </a:solidFill>
                <a:latin typeface="Calibri"/>
              </a:rPr>
              <a:t>HackPrinceton 2026  ·  Regeneron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 i="0">
                <a:solidFill>
                  <a:srgbClr val="0A0A0A"/>
                </a:solidFill>
                <a:latin typeface="Calibri Light"/>
              </a:rPr>
              <a:t>HIPAA-aligned by design.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B6B6B"/>
                </a:solidFill>
                <a:latin typeface="Calibri"/>
              </a:rPr>
              <a:t>No real patient data enters the system. Logs are scrubbed before they touch disk, endpoints can be token-gated, and case state never leaves memory.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08960"/>
            <a:ext cx="2622727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108960"/>
            <a:ext cx="54864" cy="25603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310128"/>
            <a:ext cx="21655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 spc="100">
                <a:solidFill>
                  <a:srgbClr val="0B2545"/>
                </a:solidFill>
                <a:latin typeface="Calibri Ligh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39312"/>
            <a:ext cx="21655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0A0A0A"/>
                </a:solidFill>
                <a:latin typeface="Calibri"/>
              </a:rPr>
              <a:t>SYNTHETIC DATA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3950208"/>
            <a:ext cx="2165527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22960" y="4142232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069080"/>
            <a:ext cx="19826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0A0A0A"/>
                </a:solidFill>
                <a:latin typeface="Calibri"/>
              </a:rPr>
              <a:t>No real patient records, ever.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599432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526280"/>
            <a:ext cx="19826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0A0A0A"/>
                </a:solidFill>
                <a:latin typeface="Calibri"/>
              </a:rPr>
              <a:t>Every demo case is generated from scratch.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5056632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983480"/>
            <a:ext cx="19826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0A0A0A"/>
                </a:solidFill>
                <a:latin typeface="Calibri"/>
              </a:rPr>
              <a:t>No PHI, no IRB, no burden.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72535" y="3108960"/>
            <a:ext cx="2622727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72535" y="3108960"/>
            <a:ext cx="54864" cy="25603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46855" y="3310128"/>
            <a:ext cx="21655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 spc="100">
                <a:solidFill>
                  <a:srgbClr val="0B2545"/>
                </a:solidFill>
                <a:latin typeface="Calibri Light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46855" y="3639312"/>
            <a:ext cx="21655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0A0A0A"/>
                </a:solidFill>
                <a:latin typeface="Calibri"/>
              </a:rPr>
              <a:t>REDACTED LOGS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646855" y="3950208"/>
            <a:ext cx="2165527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3646855" y="4142232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11447" y="4069080"/>
            <a:ext cx="19826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0A0A0A"/>
                </a:solidFill>
                <a:latin typeface="Calibri"/>
              </a:rPr>
              <a:t>Regex scrubber runs on every log line.</a:t>
            </a:r>
          </a:p>
        </p:txBody>
      </p:sp>
      <p:sp>
        <p:nvSpPr>
          <p:cNvPr id="28" name="Oval 27"/>
          <p:cNvSpPr/>
          <p:nvPr/>
        </p:nvSpPr>
        <p:spPr>
          <a:xfrm>
            <a:off x="3646855" y="4599432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11447" y="4526280"/>
            <a:ext cx="19826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0A0A0A"/>
                </a:solidFill>
                <a:latin typeface="Calibri"/>
              </a:rPr>
              <a:t>Catches SSN, DOB, phone, email, MRN.</a:t>
            </a:r>
          </a:p>
        </p:txBody>
      </p:sp>
      <p:sp>
        <p:nvSpPr>
          <p:cNvPr id="30" name="Oval 29"/>
          <p:cNvSpPr/>
          <p:nvPr/>
        </p:nvSpPr>
        <p:spPr>
          <a:xfrm>
            <a:off x="3646855" y="5056632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11447" y="4983480"/>
            <a:ext cx="19826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0A0A0A"/>
                </a:solidFill>
                <a:latin typeface="Calibri"/>
              </a:rPr>
              <a:t>On by default (NEOVAX_LOG_REDACTION).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96430" y="3108960"/>
            <a:ext cx="2622727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6430" y="3108960"/>
            <a:ext cx="54864" cy="25603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0750" y="3310128"/>
            <a:ext cx="21655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 spc="100">
                <a:solidFill>
                  <a:srgbClr val="0B2545"/>
                </a:solidFill>
                <a:latin typeface="Calibri Light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0750" y="3639312"/>
            <a:ext cx="21655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0A0A0A"/>
                </a:solidFill>
                <a:latin typeface="Calibri"/>
              </a:rPr>
              <a:t>TOKEN-GATED API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470750" y="3950208"/>
            <a:ext cx="2165527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6470750" y="4142232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35342" y="4069080"/>
            <a:ext cx="19826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0A0A0A"/>
                </a:solidFill>
                <a:latin typeface="Calibri"/>
              </a:rPr>
              <a:t>Every /api/* can require a bearer token.</a:t>
            </a:r>
          </a:p>
        </p:txBody>
      </p:sp>
      <p:sp>
        <p:nvSpPr>
          <p:cNvPr id="39" name="Oval 38"/>
          <p:cNvSpPr/>
          <p:nvPr/>
        </p:nvSpPr>
        <p:spPr>
          <a:xfrm>
            <a:off x="6470750" y="4599432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35342" y="4526280"/>
            <a:ext cx="19826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0A0A0A"/>
                </a:solidFill>
                <a:latin typeface="Calibri"/>
              </a:rPr>
              <a:t>Constant-time comparison (secrets.compare_digest).</a:t>
            </a:r>
          </a:p>
        </p:txBody>
      </p:sp>
      <p:sp>
        <p:nvSpPr>
          <p:cNvPr id="41" name="Oval 40"/>
          <p:cNvSpPr/>
          <p:nvPr/>
        </p:nvSpPr>
        <p:spPr>
          <a:xfrm>
            <a:off x="6470750" y="5056632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35342" y="4983480"/>
            <a:ext cx="19826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0A0A0A"/>
                </a:solidFill>
                <a:latin typeface="Calibri"/>
              </a:rPr>
              <a:t>Flip on with NEOVAX_API_TOKEN.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20325" y="3108960"/>
            <a:ext cx="2622727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20325" y="3108960"/>
            <a:ext cx="54864" cy="25603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94645" y="3310128"/>
            <a:ext cx="21655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 spc="100">
                <a:solidFill>
                  <a:srgbClr val="0B2545"/>
                </a:solidFill>
                <a:latin typeface="Calibri Light"/>
              </a:rPr>
              <a:t>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94645" y="3639312"/>
            <a:ext cx="21655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0A0A0A"/>
                </a:solidFill>
                <a:latin typeface="Calibri"/>
              </a:rPr>
              <a:t>EPHEMERAL CASES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294645" y="3950208"/>
            <a:ext cx="2165527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9294645" y="4142232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59237" y="4069080"/>
            <a:ext cx="19826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0A0A0A"/>
                </a:solidFill>
                <a:latin typeface="Calibri"/>
              </a:rPr>
              <a:t>Cases live in memory for one session.</a:t>
            </a:r>
          </a:p>
        </p:txBody>
      </p:sp>
      <p:sp>
        <p:nvSpPr>
          <p:cNvPr id="50" name="Oval 49"/>
          <p:cNvSpPr/>
          <p:nvPr/>
        </p:nvSpPr>
        <p:spPr>
          <a:xfrm>
            <a:off x="9294645" y="4599432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59237" y="4526280"/>
            <a:ext cx="19826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0A0A0A"/>
                </a:solidFill>
                <a:latin typeface="Calibri"/>
              </a:rPr>
              <a:t>Nothing persists to disk.</a:t>
            </a:r>
          </a:p>
        </p:txBody>
      </p:sp>
      <p:sp>
        <p:nvSpPr>
          <p:cNvPr id="52" name="Oval 51"/>
          <p:cNvSpPr/>
          <p:nvPr/>
        </p:nvSpPr>
        <p:spPr>
          <a:xfrm>
            <a:off x="9294645" y="5056632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59237" y="4983480"/>
            <a:ext cx="19826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0A0A0A"/>
                </a:solidFill>
                <a:latin typeface="Calibri"/>
              </a:rPr>
              <a:t>A server restart drops every case.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760720"/>
            <a:ext cx="11094415" cy="64008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240" y="58521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300">
                <a:solidFill>
                  <a:srgbClr val="0B2545"/>
                </a:solidFill>
                <a:latin typeface="Calibri"/>
              </a:rPr>
              <a:t>ALIGNED, NOT CERTIFIED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" y="607161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6B6B"/>
                </a:solidFill>
                <a:latin typeface="Calibri"/>
              </a:rPr>
              <a:t>Full HIPAA compliance needs a BAA with every vendor (K2-Think, Kimi, HeyGen, Google Maps). This is the foundation, not the finish 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12064"/>
            <a:ext cx="82296" cy="82296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4572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0B2545"/>
                </a:solidFill>
                <a:latin typeface="Calibri"/>
              </a:rPr>
              <a:t>03  ·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57200"/>
            <a:ext cx="3870655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300">
                <a:solidFill>
                  <a:srgbClr val="6B6B6B"/>
                </a:solidFill>
                <a:latin typeface="Calibri"/>
              </a:rPr>
              <a:t>ONKOS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6539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 spc="150">
                <a:solidFill>
                  <a:srgbClr val="6B6B6B"/>
                </a:solidFill>
                <a:latin typeface="Calibri"/>
              </a:rPr>
              <a:t>03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6565392"/>
            <a:ext cx="551657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 spc="150">
                <a:solidFill>
                  <a:srgbClr val="6B6B6B"/>
                </a:solidFill>
                <a:latin typeface="Calibri"/>
              </a:rPr>
              <a:t>HackPrinceton 2026  ·  Regeneron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 i="0">
                <a:solidFill>
                  <a:srgbClr val="0A0A0A"/>
                </a:solidFill>
                <a:latin typeface="Calibri Light"/>
              </a:rPr>
              <a:t>How the pieces fit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B6B6B"/>
                </a:solidFill>
                <a:latin typeface="Calibri"/>
              </a:rPr>
              <a:t>A Next.js frontend talks to a FastAPI backend over server-sent events. Model output is pushed to the UI as soon as it arrives.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287" y="3108960"/>
            <a:ext cx="356616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287" y="3108960"/>
            <a:ext cx="3566160" cy="54864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327" y="33375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0B2545"/>
                </a:solidFill>
                <a:latin typeface="Calibri"/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327" y="36118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B6B6B"/>
                </a:solidFill>
                <a:latin typeface="Calibri"/>
              </a:rPr>
              <a:t>Next.js 15  ·  Tailwind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2327" y="3931920"/>
            <a:ext cx="292608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92327" y="4142232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5207" y="406908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A0A0A"/>
                </a:solidFill>
                <a:latin typeface="Calibri"/>
              </a:rPr>
              <a:t>Upload flow and live cockpit</a:t>
            </a:r>
          </a:p>
        </p:txBody>
      </p:sp>
      <p:sp>
        <p:nvSpPr>
          <p:cNvPr id="17" name="Oval 16"/>
          <p:cNvSpPr/>
          <p:nvPr/>
        </p:nvSpPr>
        <p:spPr>
          <a:xfrm>
            <a:off x="792327" y="4434840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5207" y="4361688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A0A0A"/>
                </a:solidFill>
                <a:latin typeface="Calibri"/>
              </a:rPr>
              <a:t>Clinician tabs: Overview, Plan,
Trials, Documents, Clinical</a:t>
            </a:r>
          </a:p>
        </p:txBody>
      </p:sp>
      <p:sp>
        <p:nvSpPr>
          <p:cNvPr id="19" name="Oval 18"/>
          <p:cNvSpPr/>
          <p:nvPr/>
        </p:nvSpPr>
        <p:spPr>
          <a:xfrm>
            <a:off x="792327" y="4892040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5207" y="4818888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A0A0A"/>
                </a:solidFill>
                <a:latin typeface="Calibri"/>
              </a:rPr>
              <a:t>Patient sidebar with spoken avatar</a:t>
            </a:r>
          </a:p>
        </p:txBody>
      </p:sp>
      <p:sp>
        <p:nvSpPr>
          <p:cNvPr id="21" name="Oval 20"/>
          <p:cNvSpPr/>
          <p:nvPr/>
        </p:nvSpPr>
        <p:spPr>
          <a:xfrm>
            <a:off x="792327" y="5184648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5207" y="5111496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A0A0A"/>
                </a:solidFill>
                <a:latin typeface="Calibri"/>
              </a:rPr>
              <a:t>Tab state lives in the URL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12767" y="3108960"/>
            <a:ext cx="356616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12767" y="3108960"/>
            <a:ext cx="3566160" cy="54864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2807" y="33375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0B2545"/>
                </a:solidFill>
                <a:latin typeface="Calibri"/>
              </a:rPr>
              <a:t>BACKEND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2807" y="36118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B6B6B"/>
                </a:solidFill>
                <a:latin typeface="Calibri"/>
              </a:rPr>
              <a:t>FastAPI  ·  SSE  ·  Python 3.11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632807" y="3931920"/>
            <a:ext cx="292608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4632807" y="4142232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15687" y="406908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A0A0A"/>
                </a:solidFill>
                <a:latin typeface="Calibri"/>
              </a:rPr>
              <a:t>Orchestrator walks the pipeline</a:t>
            </a:r>
          </a:p>
        </p:txBody>
      </p:sp>
      <p:sp>
        <p:nvSpPr>
          <p:cNvPr id="30" name="Oval 29"/>
          <p:cNvSpPr/>
          <p:nvPr/>
        </p:nvSpPr>
        <p:spPr>
          <a:xfrm>
            <a:off x="4632807" y="4434840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15687" y="4361688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A0A0A"/>
                </a:solidFill>
                <a:latin typeface="Calibri"/>
              </a:rPr>
              <a:t>Case store and event bus in memory</a:t>
            </a:r>
          </a:p>
        </p:txBody>
      </p:sp>
      <p:sp>
        <p:nvSpPr>
          <p:cNvPr id="32" name="Oval 31"/>
          <p:cNvSpPr/>
          <p:nvPr/>
        </p:nvSpPr>
        <p:spPr>
          <a:xfrm>
            <a:off x="4632807" y="4727448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15687" y="4654296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A0A0A"/>
                </a:solidFill>
                <a:latin typeface="Calibri"/>
              </a:rPr>
              <a:t>PDF report generator</a:t>
            </a:r>
          </a:p>
        </p:txBody>
      </p:sp>
      <p:sp>
        <p:nvSpPr>
          <p:cNvPr id="34" name="Oval 33"/>
          <p:cNvSpPr/>
          <p:nvPr/>
        </p:nvSpPr>
        <p:spPr>
          <a:xfrm>
            <a:off x="4632807" y="5020056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15687" y="4946904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A0A0A"/>
                </a:solidFill>
                <a:latin typeface="Calibri"/>
              </a:rPr>
              <a:t>Google Maps geocoding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53247" y="3108960"/>
            <a:ext cx="356616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53247" y="3108960"/>
            <a:ext cx="3566160" cy="54864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73287" y="33375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0B2545"/>
                </a:solidFill>
                <a:latin typeface="Calibri"/>
              </a:rPr>
              <a:t>MODELS &amp; DATA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73287" y="36118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B6B6B"/>
                </a:solidFill>
                <a:latin typeface="Calibri"/>
              </a:rPr>
              <a:t>K2-Think  ·  Kimi  ·  HeyGen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473287" y="3931920"/>
            <a:ext cx="292608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8473287" y="4142232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56167" y="406908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A0A0A"/>
                </a:solidFill>
                <a:latin typeface="Calibri"/>
              </a:rPr>
              <a:t>K2-Think: reasons through
guidelines, shows its work</a:t>
            </a:r>
          </a:p>
        </p:txBody>
      </p:sp>
      <p:sp>
        <p:nvSpPr>
          <p:cNvPr id="43" name="Oval 42"/>
          <p:cNvSpPr/>
          <p:nvPr/>
        </p:nvSpPr>
        <p:spPr>
          <a:xfrm>
            <a:off x="8473287" y="4599432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56167" y="452628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A0A0A"/>
                </a:solidFill>
                <a:latin typeface="Calibri"/>
              </a:rPr>
              <a:t>Kimi: handles chat with tools</a:t>
            </a:r>
          </a:p>
        </p:txBody>
      </p:sp>
      <p:sp>
        <p:nvSpPr>
          <p:cNvPr id="45" name="Oval 44"/>
          <p:cNvSpPr/>
          <p:nvPr/>
        </p:nvSpPr>
        <p:spPr>
          <a:xfrm>
            <a:off x="8473287" y="4892040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56167" y="4818888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A0A0A"/>
                </a:solidFill>
                <a:latin typeface="Calibri"/>
              </a:rPr>
              <a:t>HeyGen: gives the avatar a voice</a:t>
            </a:r>
          </a:p>
        </p:txBody>
      </p:sp>
      <p:sp>
        <p:nvSpPr>
          <p:cNvPr id="47" name="Oval 46"/>
          <p:cNvSpPr/>
          <p:nvPr/>
        </p:nvSpPr>
        <p:spPr>
          <a:xfrm>
            <a:off x="8473287" y="5184648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56167" y="5111496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A0A0A"/>
                </a:solidFill>
                <a:latin typeface="Calibri"/>
              </a:rPr>
              <a:t>PubMed index for citations</a:t>
            </a:r>
          </a:p>
        </p:txBody>
      </p:sp>
      <p:sp>
        <p:nvSpPr>
          <p:cNvPr id="49" name="Oval 48"/>
          <p:cNvSpPr/>
          <p:nvPr/>
        </p:nvSpPr>
        <p:spPr>
          <a:xfrm>
            <a:off x="8473287" y="5477256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56167" y="5404104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A0A0A"/>
                </a:solidFill>
                <a:latin typeface="Calibri"/>
              </a:rPr>
              <a:t>Regeneron trial registry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12064"/>
            <a:ext cx="82296" cy="82296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4572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0B2545"/>
                </a:solidFill>
                <a:latin typeface="Calibri"/>
              </a:rPr>
              <a:t>04  ·  SYNTHETIC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57200"/>
            <a:ext cx="3870655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300">
                <a:solidFill>
                  <a:srgbClr val="6B6B6B"/>
                </a:solidFill>
                <a:latin typeface="Calibri"/>
              </a:rPr>
              <a:t>ONKOS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6539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 spc="150">
                <a:solidFill>
                  <a:srgbClr val="6B6B6B"/>
                </a:solidFill>
                <a:latin typeface="Calibri"/>
              </a:rPr>
              <a:t>04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6565392"/>
            <a:ext cx="551657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 spc="150">
                <a:solidFill>
                  <a:srgbClr val="6B6B6B"/>
                </a:solidFill>
                <a:latin typeface="Calibri"/>
              </a:rPr>
              <a:t>HackPrinceton 2026  ·  Regeneron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 i="0">
                <a:solidFill>
                  <a:srgbClr val="0A0A0A"/>
                </a:solidFill>
                <a:latin typeface="Calibri Light"/>
              </a:rPr>
              <a:t>Built on realistic, made-up case bundles.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B6B6B"/>
                </a:solidFill>
                <a:latin typeface="Calibri"/>
              </a:rPr>
              <a:t>Every demo case is synthetic: pathology PDFs, faxed referrals, lab charts, registration sheets. The same shape and mess a real intake looks like, with no real patient 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287" y="3154680"/>
            <a:ext cx="356616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5167" y="3337560"/>
            <a:ext cx="3200400" cy="1965960"/>
          </a:xfrm>
          <a:prstGeom prst="rect">
            <a:avLst/>
          </a:prstGeom>
          <a:solidFill>
            <a:srgbClr val="F4F4F4"/>
          </a:solidFill>
          <a:ln w="6350">
            <a:solidFill>
              <a:srgbClr val="A3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167" y="40919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 spc="350">
                <a:solidFill>
                  <a:srgbClr val="6B6B6B"/>
                </a:solidFill>
                <a:latin typeface="Calibri"/>
              </a:rPr>
              <a:t>DROP IMAGE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167" y="43662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A3A3A3"/>
                </a:solidFill>
                <a:latin typeface="Calibri"/>
              </a:rPr>
              <a:t>(replace this rectangle with the screenshot)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887" y="5532120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0B2545"/>
                </a:solidFill>
                <a:latin typeface="Calibri"/>
              </a:rPr>
              <a:t>FAX REFERRAL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887" y="58521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Scanned outside referral
with handwriting and stamps.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2767" y="3154680"/>
            <a:ext cx="356616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95647" y="3337560"/>
            <a:ext cx="3200400" cy="1965960"/>
          </a:xfrm>
          <a:prstGeom prst="rect">
            <a:avLst/>
          </a:prstGeom>
          <a:solidFill>
            <a:srgbClr val="F4F4F4"/>
          </a:solidFill>
          <a:ln w="6350">
            <a:solidFill>
              <a:srgbClr val="A3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5647" y="40919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 spc="350">
                <a:solidFill>
                  <a:srgbClr val="6B6B6B"/>
                </a:solidFill>
                <a:latin typeface="Calibri"/>
              </a:rPr>
              <a:t>DROP IMAGE 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5647" y="43662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A3A3A3"/>
                </a:solidFill>
                <a:latin typeface="Calibri"/>
              </a:rPr>
              <a:t>(replace this rectangle with the screenshot)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1367" y="5532120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0B2545"/>
                </a:solidFill>
                <a:latin typeface="Calibri"/>
              </a:rPr>
              <a:t>LAB CHART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367" y="58521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CBC and CMP values
tracked over 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53247" y="3154680"/>
            <a:ext cx="356616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36127" y="3337560"/>
            <a:ext cx="3200400" cy="1965960"/>
          </a:xfrm>
          <a:prstGeom prst="rect">
            <a:avLst/>
          </a:prstGeom>
          <a:solidFill>
            <a:srgbClr val="F4F4F4"/>
          </a:solidFill>
          <a:ln w="6350">
            <a:solidFill>
              <a:srgbClr val="A3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6127" y="40919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 spc="350">
                <a:solidFill>
                  <a:srgbClr val="6B6B6B"/>
                </a:solidFill>
                <a:latin typeface="Calibri"/>
              </a:rPr>
              <a:t>DROP IMAGE HERE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6127" y="43662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A3A3A3"/>
                </a:solidFill>
                <a:latin typeface="Calibri"/>
              </a:rPr>
              <a:t>(replace this rectangle with the screenshot)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1847" y="5532120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0B2545"/>
                </a:solidFill>
                <a:latin typeface="Calibri"/>
              </a:rPr>
              <a:t>PATHOLOGY PDF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1847" y="58521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Digital biopsy report
with IHC and molecular panel.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12064"/>
            <a:ext cx="82296" cy="82296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4572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0B2545"/>
                </a:solidFill>
                <a:latin typeface="Calibri"/>
              </a:rPr>
              <a:t>05  ·  REGENERON RELEVANCE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57200"/>
            <a:ext cx="3870655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300">
                <a:solidFill>
                  <a:srgbClr val="6B6B6B"/>
                </a:solidFill>
                <a:latin typeface="Calibri"/>
              </a:rPr>
              <a:t>ONKOS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6539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 spc="150">
                <a:solidFill>
                  <a:srgbClr val="6B6B6B"/>
                </a:solidFill>
                <a:latin typeface="Calibri"/>
              </a:rPr>
              <a:t>05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6565392"/>
            <a:ext cx="551657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 spc="150">
                <a:solidFill>
                  <a:srgbClr val="6B6B6B"/>
                </a:solidFill>
                <a:latin typeface="Calibri"/>
              </a:rPr>
              <a:t>HackPrinceton 2026  ·  Regeneron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 i="0">
                <a:solidFill>
                  <a:srgbClr val="0A0A0A"/>
                </a:solidFill>
                <a:latin typeface="Calibri Light"/>
              </a:rPr>
              <a:t>Built around the Regeneron oncology pipeline.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B6B6B"/>
                </a:solidFill>
                <a:latin typeface="Calibri"/>
              </a:rPr>
              <a:t>Trial matching runs on real eligibility rules from real Regeneron-sponsored studies. Not a keyword search of ClinicalTrials.gov.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3707" y="3108960"/>
            <a:ext cx="2743200" cy="13716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8027" y="3310128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0B2545"/>
                </a:solidFill>
                <a:latin typeface="Calibri Light"/>
              </a:rPr>
              <a:t>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027" y="388620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Regeneron trials
covered.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84067" y="3108960"/>
            <a:ext cx="2743200" cy="13716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8387" y="3310128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0B2545"/>
                </a:solidFill>
                <a:latin typeface="Calibri Light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8387" y="388620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Biomarker rules
built 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4427" y="3108960"/>
            <a:ext cx="2743200" cy="13716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8747" y="3310128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0B2545"/>
                </a:solidFill>
                <a:latin typeface="Calibri Light"/>
              </a:rPr>
              <a:t>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8747" y="388620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Eligibility checks
per trial.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44787" y="3108960"/>
            <a:ext cx="2743200" cy="13716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19107" y="3310128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0B2545"/>
                </a:solidFill>
                <a:latin typeface="Calibri Light"/>
              </a:rPr>
              <a:t>3-way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9107" y="388620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Eligible, needs data,
or ineligible verdict.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548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50">
                <a:solidFill>
                  <a:srgbClr val="0B2545"/>
                </a:solidFill>
                <a:latin typeface="Calibri"/>
              </a:rPr>
              <a:t>KEY REGENERON ASSETS COVERED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5029200"/>
            <a:ext cx="11094415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32307" y="51663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A0A0A"/>
                </a:solidFill>
                <a:latin typeface="Calibri"/>
              </a:rPr>
              <a:t>Fianlimab + cemiplimab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307" y="548640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LAG-3 with PD-1 in advanced melanoma.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1227" y="51663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A0A0A"/>
                </a:solidFill>
                <a:latin typeface="Calibri"/>
              </a:rPr>
              <a:t>Cemiplimab monotherapy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1227" y="548640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PD-1 across solid tumors.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0147" y="51663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A0A0A"/>
                </a:solidFill>
                <a:latin typeface="Calibri"/>
              </a:rPr>
              <a:t>Odronextamab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0147" y="548640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CD20×CD3 bispecific for B-cell lymphoma.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99067" y="51663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A0A0A"/>
                </a:solidFill>
                <a:latin typeface="Calibri"/>
              </a:rPr>
              <a:t>Linvoseltamab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99067" y="548640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BCMA×CD3 bispecific for multiple myeloma.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12064"/>
            <a:ext cx="82296" cy="82296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4572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0B2545"/>
                </a:solidFill>
                <a:latin typeface="Calibri"/>
              </a:rPr>
              <a:t>06  ·  HOW IT REASONS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57200"/>
            <a:ext cx="3870655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300">
                <a:solidFill>
                  <a:srgbClr val="6B6B6B"/>
                </a:solidFill>
                <a:latin typeface="Calibri"/>
              </a:rPr>
              <a:t>ONKOS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6539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 spc="150">
                <a:solidFill>
                  <a:srgbClr val="6B6B6B"/>
                </a:solidFill>
                <a:latin typeface="Calibri"/>
              </a:rPr>
              <a:t>06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6565392"/>
            <a:ext cx="551657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 spc="150">
                <a:solidFill>
                  <a:srgbClr val="6B6B6B"/>
                </a:solidFill>
                <a:latin typeface="Calibri"/>
              </a:rPr>
              <a:t>HackPrinceton 2026  ·  Regeneron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 i="0">
                <a:solidFill>
                  <a:srgbClr val="0A0A0A"/>
                </a:solidFill>
                <a:latin typeface="Calibri Light"/>
              </a:rPr>
              <a:t>The reasoning model drives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B6B6B"/>
                </a:solidFill>
                <a:latin typeface="Calibri"/>
              </a:rPr>
              <a:t>The NCCN treatment pathway is actually walked by a reasoning model, step by step. You watch it think in real time.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273552"/>
            <a:ext cx="91440" cy="9144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0896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A0A0A"/>
                </a:solidFill>
                <a:latin typeface="Calibri"/>
              </a:rPr>
              <a:t>Live reasoning stream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83280"/>
            <a:ext cx="6583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K2-Think thinks out loud at each guideline step. The cockpit renders it as it happens.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931920"/>
            <a:ext cx="91440" cy="9144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67328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A0A0A"/>
                </a:solidFill>
                <a:latin typeface="Calibri"/>
              </a:rPr>
              <a:t>Grounded in real papers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41648"/>
            <a:ext cx="6583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Each step pulls relevant PubMed citations, filtered to the patient's cancer type.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590288"/>
            <a:ext cx="91440" cy="9144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425696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A0A0A"/>
                </a:solidFill>
                <a:latin typeface="Calibri"/>
              </a:rPr>
              <a:t>Works across cancer types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00016"/>
            <a:ext cx="6583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The walker picks the right branch based on the cancer type the extractor found. Nothing is hard-coded.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5248656"/>
            <a:ext cx="91440" cy="9144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084064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A0A0A"/>
                </a:solidFill>
                <a:latin typeface="Calibri"/>
              </a:rPr>
              <a:t>Follow-up chat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358384"/>
            <a:ext cx="6583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A second model handles questions after the run. Its tools only guide the UI; they never change the case.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5907024"/>
            <a:ext cx="91440" cy="9144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742432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A0A0A"/>
                </a:solidFill>
                <a:latin typeface="Calibri"/>
              </a:rPr>
              <a:t>The avatar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016752"/>
            <a:ext cx="6583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Kimi writes the answer. HeyGen gives it a voice. The avatar doesn't think on its own.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3108960"/>
            <a:ext cx="3687775" cy="3246120"/>
          </a:xfrm>
          <a:prstGeom prst="rect">
            <a:avLst/>
          </a:prstGeom>
          <a:solidFill>
            <a:srgbClr val="061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55279" y="3108960"/>
            <a:ext cx="3687775" cy="3657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138159" y="3236976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59" y="3182112"/>
            <a:ext cx="313913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50">
                <a:solidFill>
                  <a:srgbClr val="FFFFFF"/>
                </a:solidFill>
                <a:latin typeface="Calibri"/>
              </a:rPr>
              <a:t>K2-THINK  ·  LIVE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9" y="3611880"/>
            <a:ext cx="3139135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1">
                <a:solidFill>
                  <a:srgbClr val="D7DFF0"/>
                </a:solidFill>
                <a:latin typeface="Calibri"/>
              </a:rPr>
              <a:t>thinking... patient presents with Stage IIIC cutaneous melanoma, BRAF V600E positive, ECOG 1. primary decision: adjuvant vs. neoadjuvant systemic therapy.
per NCCN MEL-C: for resectable stage III with positive sentinel node, consider neoadjuvant pembrolizumab or nivolumab plus relatlimab (RELATIVITY-098).
flag: patient may also be eligible for a LAG-3 combo. cross-check Regeneron fianlimab + cemiplimab (NCT05352672)...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12064"/>
            <a:ext cx="82296" cy="82296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4572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0B2545"/>
                </a:solidFill>
                <a:latin typeface="Calibri"/>
              </a:rPr>
              <a:t>07  · 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57200"/>
            <a:ext cx="3870655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300">
                <a:solidFill>
                  <a:srgbClr val="6B6B6B"/>
                </a:solidFill>
                <a:latin typeface="Calibri"/>
              </a:rPr>
              <a:t>ONKOS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6539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 spc="150">
                <a:solidFill>
                  <a:srgbClr val="6B6B6B"/>
                </a:solidFill>
                <a:latin typeface="Calibri"/>
              </a:rPr>
              <a:t>07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6565392"/>
            <a:ext cx="551657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 spc="150">
                <a:solidFill>
                  <a:srgbClr val="6B6B6B"/>
                </a:solidFill>
                <a:latin typeface="Calibri"/>
              </a:rPr>
              <a:t>HackPrinceton 2026  ·  Regeneron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 i="0">
                <a:solidFill>
                  <a:srgbClr val="0A0A0A"/>
                </a:solidFill>
                <a:latin typeface="Calibri Light"/>
              </a:rPr>
              <a:t>One case. Two audiences.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B6B6B"/>
                </a:solidFill>
                <a:latin typeface="Calibri"/>
              </a:rPr>
              <a:t>The same case data powers two views. The avatar can send the user to the right tab when it needs 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08960"/>
            <a:ext cx="5410047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108960"/>
            <a:ext cx="5410047" cy="50292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00400"/>
            <a:ext cx="476996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300">
                <a:solidFill>
                  <a:srgbClr val="0B2545"/>
                </a:solidFill>
                <a:latin typeface="Calibri"/>
              </a:rPr>
              <a:t>CLINICIAN COCKPIT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383280"/>
            <a:ext cx="476996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A0A0A"/>
                </a:solidFill>
                <a:latin typeface="Calibri"/>
              </a:rPr>
              <a:t>For the treating oncologist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794760"/>
            <a:ext cx="910102" cy="2743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840480"/>
            <a:ext cx="91010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 spc="150">
                <a:solidFill>
                  <a:srgbClr val="FFFFFF"/>
                </a:solidFill>
                <a:latin typeface="Calibri"/>
              </a:rPr>
              <a:t>Overview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33646" y="3794760"/>
            <a:ext cx="910102" cy="2743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33646" y="3840480"/>
            <a:ext cx="91010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 spc="150">
                <a:solidFill>
                  <a:srgbClr val="6B6B6B"/>
                </a:solidFill>
                <a:latin typeface="Calibri"/>
              </a:rPr>
              <a:t>Plan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98612" y="3794760"/>
            <a:ext cx="910102" cy="2743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98612" y="3840480"/>
            <a:ext cx="91010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 spc="150">
                <a:solidFill>
                  <a:srgbClr val="6B6B6B"/>
                </a:solidFill>
                <a:latin typeface="Calibri"/>
              </a:rPr>
              <a:t>Trials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63578" y="3794760"/>
            <a:ext cx="910102" cy="2743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63578" y="3840480"/>
            <a:ext cx="91010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 spc="150">
                <a:solidFill>
                  <a:srgbClr val="6B6B6B"/>
                </a:solidFill>
                <a:latin typeface="Calibri"/>
              </a:rPr>
              <a:t>Documents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28544" y="3794760"/>
            <a:ext cx="910102" cy="2743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28544" y="3840480"/>
            <a:ext cx="91010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 spc="150">
                <a:solidFill>
                  <a:srgbClr val="6B6B6B"/>
                </a:solidFill>
                <a:latin typeface="Calibri"/>
              </a:rPr>
              <a:t>Clinical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4379976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297680"/>
            <a:ext cx="44956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A0A0A"/>
                </a:solidFill>
                <a:latin typeface="Calibri"/>
              </a:rPr>
              <a:t>Intake and pathology at a glance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4764024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681728"/>
            <a:ext cx="44956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A0A0A"/>
                </a:solidFill>
                <a:latin typeface="Calibri"/>
              </a:rPr>
              <a:t>Guideline pathway with reasoning at each step</a:t>
            </a:r>
          </a:p>
        </p:txBody>
      </p:sp>
      <p:sp>
        <p:nvSpPr>
          <p:cNvPr id="28" name="Oval 27"/>
          <p:cNvSpPr/>
          <p:nvPr/>
        </p:nvSpPr>
        <p:spPr>
          <a:xfrm>
            <a:off x="914400" y="5148072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065776"/>
            <a:ext cx="44956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A0A0A"/>
                </a:solidFill>
                <a:latin typeface="Calibri"/>
              </a:rPr>
              <a:t>Ranked Regeneron trials with clear verdicts</a:t>
            </a:r>
          </a:p>
        </p:txBody>
      </p:sp>
      <p:sp>
        <p:nvSpPr>
          <p:cNvPr id="30" name="Oval 29"/>
          <p:cNvSpPr/>
          <p:nvPr/>
        </p:nvSpPr>
        <p:spPr>
          <a:xfrm>
            <a:off x="914400" y="5532120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5449824"/>
            <a:ext cx="44956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A0A0A"/>
                </a:solidFill>
                <a:latin typeface="Calibri"/>
              </a:rPr>
              <a:t>One-click clinician PDF report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3007" y="3108960"/>
            <a:ext cx="5410047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3007" y="3108960"/>
            <a:ext cx="5410047" cy="50292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3047" y="3200400"/>
            <a:ext cx="476996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300">
                <a:solidFill>
                  <a:srgbClr val="0B2545"/>
                </a:solidFill>
                <a:latin typeface="Calibri"/>
              </a:rPr>
              <a:t>PATIENT SIDEBAR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53047" y="3383280"/>
            <a:ext cx="476996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A0A0A"/>
                </a:solidFill>
                <a:latin typeface="Calibri"/>
              </a:rPr>
              <a:t>For the person it's about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53047" y="3794760"/>
            <a:ext cx="910102" cy="2743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53047" y="3840480"/>
            <a:ext cx="91010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 spc="150">
                <a:solidFill>
                  <a:srgbClr val="FFFFFF"/>
                </a:solidFill>
                <a:latin typeface="Calibri"/>
              </a:rPr>
              <a:t>Diagnosis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18013" y="3794760"/>
            <a:ext cx="910102" cy="2743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18013" y="3840480"/>
            <a:ext cx="91010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 spc="150">
                <a:solidFill>
                  <a:srgbClr val="6B6B6B"/>
                </a:solidFill>
                <a:latin typeface="Calibri"/>
              </a:rPr>
              <a:t>Plan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82979" y="3794760"/>
            <a:ext cx="910102" cy="2743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82979" y="3840480"/>
            <a:ext cx="91010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 spc="150">
                <a:solidFill>
                  <a:srgbClr val="6B6B6B"/>
                </a:solidFill>
                <a:latin typeface="Calibri"/>
              </a:rPr>
              <a:t>Healing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47945" y="3794760"/>
            <a:ext cx="910102" cy="2743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47945" y="3840480"/>
            <a:ext cx="91010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 spc="150">
                <a:solidFill>
                  <a:srgbClr val="6B6B6B"/>
                </a:solidFill>
                <a:latin typeface="Calibri"/>
              </a:rPr>
              <a:t>Questions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412911" y="3794760"/>
            <a:ext cx="910102" cy="2743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12911" y="3840480"/>
            <a:ext cx="91010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 spc="150">
                <a:solidFill>
                  <a:srgbClr val="6B6B6B"/>
                </a:solidFill>
                <a:latin typeface="Calibri"/>
              </a:rPr>
              <a:t>Next</a:t>
            </a:r>
          </a:p>
        </p:txBody>
      </p:sp>
      <p:sp>
        <p:nvSpPr>
          <p:cNvPr id="46" name="Oval 45"/>
          <p:cNvSpPr/>
          <p:nvPr/>
        </p:nvSpPr>
        <p:spPr>
          <a:xfrm>
            <a:off x="6598767" y="4379976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81647" y="4297680"/>
            <a:ext cx="44956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A0A0A"/>
                </a:solidFill>
                <a:latin typeface="Calibri"/>
              </a:rPr>
              <a:t>Plain-English headlines, no jargon</a:t>
            </a:r>
          </a:p>
        </p:txBody>
      </p:sp>
      <p:sp>
        <p:nvSpPr>
          <p:cNvPr id="48" name="Oval 47"/>
          <p:cNvSpPr/>
          <p:nvPr/>
        </p:nvSpPr>
        <p:spPr>
          <a:xfrm>
            <a:off x="6598767" y="4764024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81647" y="4681728"/>
            <a:ext cx="44956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A0A0A"/>
                </a:solidFill>
                <a:latin typeface="Calibri"/>
              </a:rPr>
              <a:t>The avatar reads answers aloud</a:t>
            </a:r>
          </a:p>
        </p:txBody>
      </p:sp>
      <p:sp>
        <p:nvSpPr>
          <p:cNvPr id="50" name="Oval 49"/>
          <p:cNvSpPr/>
          <p:nvPr/>
        </p:nvSpPr>
        <p:spPr>
          <a:xfrm>
            <a:off x="6598767" y="5148072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81647" y="5065776"/>
            <a:ext cx="44956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A0A0A"/>
                </a:solidFill>
                <a:latin typeface="Calibri"/>
              </a:rPr>
              <a:t>Questions to ask the care team</a:t>
            </a:r>
          </a:p>
        </p:txBody>
      </p:sp>
      <p:sp>
        <p:nvSpPr>
          <p:cNvPr id="52" name="Oval 51"/>
          <p:cNvSpPr/>
          <p:nvPr/>
        </p:nvSpPr>
        <p:spPr>
          <a:xfrm>
            <a:off x="6598767" y="5532120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81647" y="5449824"/>
            <a:ext cx="44956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A0A0A"/>
                </a:solidFill>
                <a:latin typeface="Calibri"/>
              </a:rPr>
              <a:t>Trial options explained in lay terms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12064"/>
            <a:ext cx="82296" cy="82296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4572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0B2545"/>
                </a:solidFill>
                <a:latin typeface="Calibri"/>
              </a:rPr>
              <a:t>08  · 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57200"/>
            <a:ext cx="3870655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300">
                <a:solidFill>
                  <a:srgbClr val="6B6B6B"/>
                </a:solidFill>
                <a:latin typeface="Calibri"/>
              </a:rPr>
              <a:t>ONKOS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6539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 spc="150">
                <a:solidFill>
                  <a:srgbClr val="6B6B6B"/>
                </a:solidFill>
                <a:latin typeface="Calibri"/>
              </a:rPr>
              <a:t>08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6565392"/>
            <a:ext cx="551657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 spc="150">
                <a:solidFill>
                  <a:srgbClr val="6B6B6B"/>
                </a:solidFill>
                <a:latin typeface="Calibri"/>
              </a:rPr>
              <a:t>HackPrinceton 2026  ·  Regeneron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 i="0">
                <a:solidFill>
                  <a:srgbClr val="0A0A0A"/>
                </a:solidFill>
                <a:latin typeface="Calibri Light"/>
              </a:rPr>
              <a:t>Open-source, reproducible, ready to run.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B6B6B"/>
                </a:solidFill>
                <a:latin typeface="Calibri"/>
              </a:rPr>
              <a:t>MIT licensed. One command for the backend, one for the frontend. If a key is missing, that feature switches off instead of crashing.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08960"/>
            <a:ext cx="3515258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108960"/>
            <a:ext cx="54864" cy="3154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37560"/>
            <a:ext cx="28751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0B2545"/>
                </a:solidFill>
                <a:latin typeface="Calibri"/>
              </a:rPr>
              <a:t>SHIPPING TODAY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" y="3703320"/>
            <a:ext cx="2875178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68680" y="3922776"/>
            <a:ext cx="64008" cy="64008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840480"/>
            <a:ext cx="269229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A0A0A"/>
                </a:solidFill>
                <a:latin typeface="Calibri"/>
              </a:rPr>
              <a:t>Pulls oncology fields out of PDFs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398264"/>
            <a:ext cx="64008" cy="64008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315968"/>
            <a:ext cx="269229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A0A0A"/>
                </a:solidFill>
                <a:latin typeface="Calibri"/>
              </a:rPr>
              <a:t>Guideline walker with live reasoning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4873752"/>
            <a:ext cx="64008" cy="64008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791456"/>
            <a:ext cx="269229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A0A0A"/>
                </a:solidFill>
                <a:latin typeface="Calibri"/>
              </a:rPr>
              <a:t>Regeneron trial matching on a map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5349240"/>
            <a:ext cx="64008" cy="64008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266944"/>
            <a:ext cx="269229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A0A0A"/>
                </a:solidFill>
                <a:latin typeface="Calibri"/>
              </a:rPr>
              <a:t>One-click clinician PDF report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5824728"/>
            <a:ext cx="64008" cy="64008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742432"/>
            <a:ext cx="269229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A0A0A"/>
                </a:solidFill>
                <a:latin typeface="Calibri"/>
              </a:rPr>
              <a:t>Clinician and patient views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38218" y="3108960"/>
            <a:ext cx="3515258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38218" y="3108960"/>
            <a:ext cx="54864" cy="31546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58258" y="3337560"/>
            <a:ext cx="28751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1E3A8A"/>
                </a:solidFill>
                <a:latin typeface="Calibri"/>
              </a:rPr>
              <a:t>IN PROGRESS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658258" y="3703320"/>
            <a:ext cx="2875178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4658258" y="3922776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1138" y="3840480"/>
            <a:ext cx="269229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A0A0A"/>
                </a:solidFill>
                <a:latin typeface="Calibri"/>
              </a:rPr>
              <a:t>Wire Kimi chat into the avatar</a:t>
            </a:r>
          </a:p>
        </p:txBody>
      </p:sp>
      <p:sp>
        <p:nvSpPr>
          <p:cNvPr id="30" name="Oval 29"/>
          <p:cNvSpPr/>
          <p:nvPr/>
        </p:nvSpPr>
        <p:spPr>
          <a:xfrm>
            <a:off x="4658258" y="4398264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1138" y="4315968"/>
            <a:ext cx="269229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A0A0A"/>
                </a:solidFill>
                <a:latin typeface="Calibri"/>
              </a:rPr>
              <a:t>Capture more intake (ECOG, RECIST, prior tx)</a:t>
            </a:r>
          </a:p>
        </p:txBody>
      </p:sp>
      <p:sp>
        <p:nvSpPr>
          <p:cNvPr id="32" name="Oval 31"/>
          <p:cNvSpPr/>
          <p:nvPr/>
        </p:nvSpPr>
        <p:spPr>
          <a:xfrm>
            <a:off x="4658258" y="4873752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1138" y="4791456"/>
            <a:ext cx="269229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A0A0A"/>
                </a:solidFill>
                <a:latin typeface="Calibri"/>
              </a:rPr>
              <a:t>Expand trial coverage past melanoma</a:t>
            </a:r>
          </a:p>
        </p:txBody>
      </p:sp>
      <p:sp>
        <p:nvSpPr>
          <p:cNvPr id="34" name="Oval 33"/>
          <p:cNvSpPr/>
          <p:nvPr/>
        </p:nvSpPr>
        <p:spPr>
          <a:xfrm>
            <a:off x="4658258" y="5349240"/>
            <a:ext cx="64008" cy="64008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1138" y="5266944"/>
            <a:ext cx="269229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A0A0A"/>
                </a:solidFill>
                <a:latin typeface="Calibri"/>
              </a:rPr>
              <a:t>Pre-seeded demo case for judges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27796" y="3108960"/>
            <a:ext cx="3515258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27796" y="3108960"/>
            <a:ext cx="54864" cy="31546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47836" y="3337560"/>
            <a:ext cx="28751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0A0A0A"/>
                </a:solidFill>
                <a:latin typeface="Calibri"/>
              </a:rPr>
              <a:t>PRIVACY &amp; DEPLOY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447836" y="3703320"/>
            <a:ext cx="2875178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8447836" y="3922776"/>
            <a:ext cx="64008" cy="6400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30716" y="3840480"/>
            <a:ext cx="269229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A0A0A"/>
                </a:solidFill>
                <a:latin typeface="Calibri"/>
              </a:rPr>
              <a:t>Synthetic data only. No real patient data.</a:t>
            </a:r>
          </a:p>
        </p:txBody>
      </p:sp>
      <p:sp>
        <p:nvSpPr>
          <p:cNvPr id="42" name="Oval 41"/>
          <p:cNvSpPr/>
          <p:nvPr/>
        </p:nvSpPr>
        <p:spPr>
          <a:xfrm>
            <a:off x="8447836" y="4398264"/>
            <a:ext cx="64008" cy="6400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30716" y="4315968"/>
            <a:ext cx="269229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A0A0A"/>
                </a:solidFill>
                <a:latin typeface="Calibri"/>
              </a:rPr>
              <a:t>Cases live in memory, one session at a time</a:t>
            </a:r>
          </a:p>
        </p:txBody>
      </p:sp>
      <p:sp>
        <p:nvSpPr>
          <p:cNvPr id="44" name="Oval 43"/>
          <p:cNvSpPr/>
          <p:nvPr/>
        </p:nvSpPr>
        <p:spPr>
          <a:xfrm>
            <a:off x="8447836" y="4873752"/>
            <a:ext cx="64008" cy="6400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30716" y="4791456"/>
            <a:ext cx="269229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A0A0A"/>
                </a:solidFill>
                <a:latin typeface="Calibri"/>
              </a:rPr>
              <a:t>Secrets in .env, a health endpoint shows setup</a:t>
            </a:r>
          </a:p>
        </p:txBody>
      </p:sp>
      <p:sp>
        <p:nvSpPr>
          <p:cNvPr id="46" name="Oval 45"/>
          <p:cNvSpPr/>
          <p:nvPr/>
        </p:nvSpPr>
        <p:spPr>
          <a:xfrm>
            <a:off x="8447836" y="5349240"/>
            <a:ext cx="64008" cy="6400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30716" y="5266944"/>
            <a:ext cx="269229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A0A0A"/>
                </a:solidFill>
                <a:latin typeface="Calibri"/>
              </a:rPr>
              <a:t>Vercel for the frontend, Render or Fly for the backend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12064"/>
            <a:ext cx="82296" cy="82296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4572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0B2545"/>
                </a:solidFill>
                <a:latin typeface="Calibri"/>
              </a:rPr>
              <a:t>09  ·  TRY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57200"/>
            <a:ext cx="3870655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 spc="300">
                <a:solidFill>
                  <a:srgbClr val="6B6B6B"/>
                </a:solidFill>
                <a:latin typeface="Calibri"/>
              </a:rPr>
              <a:t>ONKOS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6539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 spc="150">
                <a:solidFill>
                  <a:srgbClr val="6B6B6B"/>
                </a:solidFill>
                <a:latin typeface="Calibri"/>
              </a:rPr>
              <a:t>09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6565392"/>
            <a:ext cx="551657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 spc="150">
                <a:solidFill>
                  <a:srgbClr val="6B6B6B"/>
                </a:solidFill>
                <a:latin typeface="Calibri"/>
              </a:rPr>
              <a:t>HackPrinceton 2026  ·  Regeneron Track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2801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0" i="0">
                <a:solidFill>
                  <a:srgbClr val="0A0A0A"/>
                </a:solidFill>
                <a:latin typeface="Calibri Light"/>
              </a:rPr>
              <a:t>Try Onkos.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6B6B6B"/>
                </a:solidFill>
                <a:latin typeface="Calibri Light"/>
              </a:rPr>
              <a:t>Clone it, add four API keys, upload a case.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840480"/>
            <a:ext cx="26517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0690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300">
                <a:solidFill>
                  <a:srgbClr val="0B2545"/>
                </a:solidFill>
                <a:latin typeface="Calibri"/>
              </a:rPr>
              <a:t>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43484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0A0A0A"/>
                </a:solidFill>
                <a:latin typeface="Calibri"/>
              </a:rPr>
              <a:t>github.com/&lt;your-org&gt;/onkos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11880" y="3840480"/>
            <a:ext cx="26517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40690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300">
                <a:solidFill>
                  <a:srgbClr val="0B2545"/>
                </a:solidFill>
                <a:latin typeface="Calibri"/>
              </a:rPr>
              <a:t>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443484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0A0A0A"/>
                </a:solidFill>
                <a:latin typeface="Calibri"/>
              </a:rPr>
              <a:t>onkos.example.app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840480"/>
            <a:ext cx="26517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0690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300">
                <a:solidFill>
                  <a:srgbClr val="0B2545"/>
                </a:solidFill>
                <a:latin typeface="Calibri"/>
              </a:rPr>
              <a:t>VIDEO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43484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0A0A0A"/>
                </a:solidFill>
                <a:latin typeface="Calibri"/>
              </a:rPr>
              <a:t>youtu.be/&lt;your-video-id&gt;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3840480"/>
            <a:ext cx="26517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4040" y="40690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300">
                <a:solidFill>
                  <a:srgbClr val="0B2545"/>
                </a:solidFill>
                <a:latin typeface="Calibri"/>
              </a:rPr>
              <a:t>CONTACT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443484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0A0A0A"/>
                </a:solidFill>
                <a:latin typeface="Calibri"/>
              </a:rPr>
              <a:t>team@onkos.app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2960" y="6035040"/>
            <a:ext cx="10515600" cy="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2960" y="614476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400">
                <a:solidFill>
                  <a:srgbClr val="0B2545"/>
                </a:solidFill>
                <a:latin typeface="Calibri"/>
              </a:rPr>
              <a:t>THANK YOU  ·  TEAM ONKOS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